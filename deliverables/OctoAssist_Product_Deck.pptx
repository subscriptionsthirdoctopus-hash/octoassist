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how-to deck. We walk through five user journeys end-to-end, each with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sign-in paths. Most users go via SSO. The local password is the fallback for the bootstrap administrator and for accounts not yet provisioned in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columns left-to-right. Emphasise the saved filters at top (Open / Mine / Unassigned) and the search box that hits title + ticket number + reporter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fields. Title and category are the most important — they determine routing and SLA. Encourage agents to fill the location field too if they know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realistic ticket end-to-end. The activity log on the right is the audit trail — every state change is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trigger events, five email types. Internal notes don't fire mail to the requester — only public comments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Submit → CAB review → Schedule + execute. The rollback-plan field is required — without it the system rejects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chips at the top let you focus on Online only, Critical-pending only, or by office. The CSV export of this page is the auditor evidence for ISO 27001 A.8.8.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catalog means you never paste silent-install switches again. Add an installer once in Settings → Software catalog; pick it from the dropdown forever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Assets list is sortable by every column. To install the agent on a new endpoint, copy the one-liner from Settings →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Search-first interface. Articles are category-tagged. Most KB items are step-by-step with screenshots — written to deflect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 auto-submit when you change them. Sparklines redraw in under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report, click Download. Each CSV opens directly in Excel or Power BI. Use the date filters at the top of each report to narrow the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portal is intentionally narrow. Three actions, no surprises. Most of your 399 users will only ever see this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shows a live count so you can spot misconfiguration at a glance — e.g. 0 categories means no tickets will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SLA matrix is the single source of truth for breach detection. Every ticket inherits its due-response and due-resolution timestamps from this matrix at creation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Graph with Mail.Send application permission is the recommended mail path. Use Send test email after saving to confirm the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CAB members get emailed on every Change. Use the CAB Committees sub-nav to group them — Change Management, Risk Management, Security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installer URL, the silent-install switches, and (optionally) an uninstall command. Every package in this catalog appears in the Software → Deploy dropdown.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standard Indian 2026 public holidays are seeded automatically. Add or remove dates that apply to your specific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professional templates are seeded by default — Acknowledge &amp; Investigate, Password Reset Completed, Escalated to Level 2, etc. Edit wording to match your team's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and tape it next to the helpdesk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T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7512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OctoAssist User Guide  ·  Private &amp;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66751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Third Octopus  ·  octoassist.thirdoctopus.com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TO_TITLE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&amp; 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TO_DIVIDER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OctoAssist User Guide  ·  Private &amp; 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OctoAssist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Guide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160520"/>
            <a:ext cx="210312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the OctoAssist ITSM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environment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https://octoassist.thirdoctopus.com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Third Octopus  ·  May 2026  · 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THIS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things you will learn how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28016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access OctoAssist with Microsoft Entra ID single sign-on or a local password.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a ticket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paths — the agent ticket form for technicians, the requester portal for everyone else.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a ticket end-to-end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2918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Triage, assign, comment, resolve, close — with the right keyboard shortcuts.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everyday IT pages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Changes · Problems · Patches · Assets · Software · Knowledge Base · Reports.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Configure your settings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53035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admins set SLAs, holidays, the CAB, the software catalog and email.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· SIGN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the sign-in page and choose how to authenticate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95302"/>
            <a:ext cx="7315200" cy="35245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1_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95302"/>
            <a:ext cx="7315200" cy="35245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ways to sign 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92440" y="1508760"/>
            <a:ext cx="36576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2440" y="1783080"/>
            <a:ext cx="3657600" cy="1508760"/>
          </a:xfrm>
          <a:prstGeom prst="roundRect">
            <a:avLst>
              <a:gd name="adj" fmla="val 3030"/>
            </a:avLst>
          </a:prstGeom>
          <a:solidFill>
            <a:srgbClr val="E8F4F7"/>
          </a:solidFill>
          <a:ln w="635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965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869680" y="1965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Entra ID (SSO)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23774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'Sign in with Microsoft Entra ID'. Use your work email. Recommended for everyone.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2440" y="3474720"/>
            <a:ext cx="3657600" cy="1508760"/>
          </a:xfrm>
          <a:prstGeom prst="roundRect">
            <a:avLst>
              <a:gd name="adj" fmla="val 3030"/>
            </a:avLst>
          </a:prstGeom>
          <a:solidFill>
            <a:srgbClr val="E8F4F7"/>
          </a:solidFill>
          <a:ln w="6350">
            <a:solidFill>
              <a:srgbClr val="0097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657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869680" y="3657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password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69680" y="40690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the email + password supplied by your administrator. Falls back when SSO is unavailable.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· YOUR HOME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Tickets page — everything you need on one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64442" y="1051560"/>
            <a:ext cx="4757915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2_tickets_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442" y="1051560"/>
            <a:ext cx="4757915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column shows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830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554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Auto-generated number — INC-xxx or SR-xxx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2377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5548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requester typed plus a category pill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49640" y="29718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554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· In Progress · On Hold · Resolved · Closed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49640" y="35661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554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· Medium · High · Critical (colour-coded)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4964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5548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raised 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47548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Assignee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5548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working on it (or Unassigned)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49640" y="53492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 by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555480" y="5349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Auto-calculated from the SLA matrix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· RAISE A TICKET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 a new ticket — agent 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7054" y="1051560"/>
            <a:ext cx="647829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4_ticket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54" y="1051560"/>
            <a:ext cx="6478292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fill 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1508760"/>
            <a:ext cx="41148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78308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281160" y="1783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One-line summary of the issue (under 80 characters).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237744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281160" y="2377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the closest match — this drives the SLA.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297180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28116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/ Medium / High / Critical based on impact.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89520" y="356616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81160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from the directory if you are filing on behalf of a user.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89520" y="416052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46720" y="4160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281160" y="4160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Mumbai HQ / Chembur / Vadodara / etc. — drives location routing.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89520" y="475488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046720" y="4754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281160" y="4754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What's happening, what was expected, what error message appeared.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589520" y="534924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46720" y="5349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281160" y="5349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Reporter, assignee and CAB members are emailed instantly.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· WORK A TICKET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Triage → comment → resolve, all on one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38844"/>
            <a:ext cx="6858000" cy="503751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3_ticket_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8844"/>
            <a:ext cx="6858000" cy="50375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things you can do here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1508760"/>
            <a:ext cx="41148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78308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status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0" y="2148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→ In Progress → On Hold → Resolved → Closed.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265176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priority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or lower if impact changes.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52044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3474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Reassign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another technician; both parties get email.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89520" y="438912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a comment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54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(emailed to requester) or Internal note.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89520" y="525780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46720" y="5212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a reply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46720" y="5623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from predefined templates dropdown.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· NOTIFICATIONS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gets emailed and when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state change fires an email via Microsoft Graph. You don't need to do anything — it's automatic.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80360" y="1691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Recipients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subject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 created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 + assignee (if set) + every CAB member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[OctoAssist] T-xxxx — created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 assigned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 + new assignee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246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[OctoAssist] T-xxxx — Assigned to Technician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changed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0233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023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[OctoAssist] T-xxxx — Status Updated to 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800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changed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4800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[OctoAssist] T-xxxx — Priority Updated to 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577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comment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55778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 and assignee (not the author)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5577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[OctoAssist] T-xxxx — New comment posted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 a change for CAB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3824" y="1051560"/>
            <a:ext cx="531387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5_changes_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3824" y="1051560"/>
            <a:ext cx="5313872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6112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40280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377440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Pre-CAB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21608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858768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0097A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8768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 Review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02936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340096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0096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84264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821424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1424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65592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302752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02752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46920" y="3931920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784080" y="393192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8408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seven-state change lifecycle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029200"/>
            <a:ext cx="36576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5029200"/>
            <a:ext cx="91440" cy="1417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✅ Submit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5800" y="55321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 title, type (Standard / Normal / Emergency), risk, target date, plan + rollback. Click Submit.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51960" y="5029200"/>
            <a:ext cx="36576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51960" y="5029200"/>
            <a:ext cx="91440" cy="1417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📝 CAB review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480560" y="55321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CAB member receives an email with one-click Approve / Reject. Quorum enforced before Approved.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046720" y="5029200"/>
            <a:ext cx="36576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46720" y="5029200"/>
            <a:ext cx="91440" cy="1417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7532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📅 Schedule + execute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275320" y="55321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 window, mark In Progress at the start, mark Completed at the end. Activity log preserves every step.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PATCHES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patch posture, schedule patch windows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5856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7_patch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1051560"/>
            <a:ext cx="4169664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page shows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</a:rPr>
              <a:t>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239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Hostname + assigned-to user + office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2240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</a:rPr>
              <a:t>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2396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status (last 5 min check-in)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4964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</a:rPr>
              <a:t>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2396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Critical-pending patch count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49640" y="3154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</a:rPr>
              <a:t>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239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Important-pending patch count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49640" y="3611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7A7"/>
                </a:solidFill>
              </a:rPr>
              <a:t>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239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Last successful install date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496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schedule a patch window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549640" y="452628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964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Patches → Patch windows → New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49640" y="4983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start time + targets (endpoints or Asset Group) + auto-execute mode. Save.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DEPLOY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Catalog-driven, multi-select, one-click queue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11980" y="1051560"/>
            <a:ext cx="48628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0_software_deplo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980" y="1051560"/>
            <a:ext cx="4862840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deploy software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78308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06840" y="1764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 package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006840" y="21305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the catalog dropdown — Chrome, Acrobat, your LOB app, etc.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549640" y="278892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9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06840" y="2770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targets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31363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Multi-select endpoints, OR pick an Asset Group.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49640" y="379476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06840" y="3776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deploy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06840" y="4142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runs at each endpoint's next 30-second check-in.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549640" y="4800600"/>
            <a:ext cx="365760" cy="3657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006840" y="47823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status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006840" y="51480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status flips: pending → in_progress → succeeded / failed.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ASSETS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Windows endpoint, reported by the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5856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08_ass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1051560"/>
            <a:ext cx="4169664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any hostname to drill 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239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spec (CPU, RAM, disk)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2396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+ build + last reboot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49640" y="2788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2396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Installed software inventory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49640" y="3291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2396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Services panel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4964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2396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 posture + history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4964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8239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Remote actions queue + log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49640" y="4800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97A7"/>
                </a:solidFill>
              </a:rPr>
              <a:t>●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239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tickets this user raised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KNOWLEDGE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Self-service answers for common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4060" y="1051560"/>
            <a:ext cx="6293401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1_k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4060" y="1051560"/>
            <a:ext cx="6293401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REPORTS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KPIs with three filters: timeframe, priority,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5508" y="1051560"/>
            <a:ext cx="4115785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2_repor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508" y="1051560"/>
            <a:ext cx="4115785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 bar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Timeframe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/ 15 / 30 / 90 / 180 days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96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/ Medium / High / Critical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4964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496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/ Endpoints / Email / Access …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4964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the page you also get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49640" y="461772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cards · trend sparklines · status &amp; priority breakdowns · SLA compliance · workload by assignee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· REPORTS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25+ downloadable reports, all CSV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9592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3_reports_libr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051560"/>
            <a:ext cx="4169664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REQUESTERS · 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Self-service portal — three things, no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2786"/>
            <a:ext cx="5669280" cy="277794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21_por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2786"/>
            <a:ext cx="5669280" cy="27779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5203" y="1051560"/>
            <a:ext cx="347183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7" name="Image 1" descr="/Users/arundwivedi/Documents/Claude /Projects/OctoAssist/deliverables/shots_light/22_portal_n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203" y="1051560"/>
            <a:ext cx="3471834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97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— your tickets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179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ticket — submit a request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480060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4937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🎟️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371600" y="49651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a ticket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" y="5669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 category, type a description, attach files. Email confirmation in seconds.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97680" y="480060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80560" y="4937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212080" y="49651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your tickets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5669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Inbox-style view. Email update on every status change.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480060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21040" y="4937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052560" y="49651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the KB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321040" y="5669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Self-service answers — password reset, VPN, printers, Outlook.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Configure Your Settings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486400" y="4160520"/>
            <a:ext cx="118872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Admin-only — where you set SLAs, holidays, CAB, mail and software catalog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SETTINGS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landing page, every configurable area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19514" y="1051560"/>
            <a:ext cx="604777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4_settin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514" y="1051560"/>
            <a:ext cx="6047772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Tiles you'll use most often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1508760"/>
            <a:ext cx="32918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⏱ SLA Matrix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4964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+ resolution per category × priority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4964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📅 Holidays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964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Skip dates in SLA business-day math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4964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📧 Notifications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Mail provider + send test email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4964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👥 CAB Members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49640" y="4846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reviewers from Entra; sub-tab for committees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549640" y="5440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📦 Software catalog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5760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Curate installer entries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SLA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Per-category response and resolution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9592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5_settings_s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051560"/>
            <a:ext cx="4169664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MAIL PROVIDER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Configure Microsoft Graph and send a test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9592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6_settings_notifica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051560"/>
            <a:ext cx="4169664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CAB MEMBERS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reviewers from your directory; group into committees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95928" y="1051560"/>
            <a:ext cx="4169664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7_settings_c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051560"/>
            <a:ext cx="4169664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SOFTWARE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installers once — pick from a dropdown forever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1998" y="1051560"/>
            <a:ext cx="10817525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8_settings_software_cata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998" y="1051560"/>
            <a:ext cx="10817525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HOLIDAYS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Skip business holidays in SLA math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28879" y="1051560"/>
            <a:ext cx="4503761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19_settings_holiday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8879" y="1051560"/>
            <a:ext cx="4503761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· PREDEFINED REPLIES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Curate canned responses your agents insert in one click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68843" y="1051560"/>
            <a:ext cx="4423833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/Users/arundwivedi/Documents/Claude /Projects/OctoAssist/deliverables/shots_light/20_settings_reply_templa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8843" y="1051560"/>
            <a:ext cx="4423833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tasks — where to 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you want to 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09728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1790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a ticket (agent)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0" y="15179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Tickets → New incident / New service request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385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a ticket (requester)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0" y="193852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/portal → New ticket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5915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the Knowledge 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35915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Base → search box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797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a change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94960" y="277977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link → Changes → CHG-xxxx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 patches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320040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Patches → Patch windows → New window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2102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 software to a group of endpoints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362102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→ Deploy → pick package + group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4164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an endpoint's installed software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404164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Assets → click hostname → Software tab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6227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a CAB member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94960" y="446227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Settings → CAB Members → tick checkbox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882896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8289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email wiring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94960" y="488289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Settings → Notifications → Send test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5303520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0352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a public holiday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4960" y="530352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Settings → Holidays → Add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5724144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72414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Download an audit report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4960" y="572414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→ Reports library → pick → CSV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6144768"/>
            <a:ext cx="11247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1447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when something happened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4960" y="614476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Settings → Remote Actions  /  Audit Trail report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8426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That's the tour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212080" y="3429000"/>
            <a:ext cx="173736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11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the application and try each step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environment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https://octoassist.thirdoctopus.com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Third Octopus  ·  Modern Cloud · Trusted Security · Managed Outcomes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Third Octopus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OctoAssist — User Guide</dc:title>
  <dc:subject>PptxGenJS Presentation</dc:subject>
  <dc:creator>Third Octopus</dc:creator>
  <cp:lastModifiedBy>Third Octopus</cp:lastModifiedBy>
  <cp:revision>1</cp:revision>
  <dcterms:created xsi:type="dcterms:W3CDTF">2026-05-26T11:17:54Z</dcterms:created>
  <dcterms:modified xsi:type="dcterms:W3CDTF">2026-05-26T11:17:54Z</dcterms:modified>
</cp:coreProperties>
</file>